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ResNet CNN accuracy</c:v>
                </c:pt>
              </c:strCache>
            </c:strRef>
          </c:tx>
          <c:spPr>
            <a:solidFill>
              <a:srgbClr val="1A4B8C"/>
            </a:solidFill>
            <a:ln w="25400" cap="flat">
              <a:solidFill>
                <a:srgbClr val="1A4B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4B8C"/>
              </a:solidFill>
              <a:ln w="9525" cap="flat">
                <a:solidFill>
                  <a:srgbClr val="1A4B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</c:lvl>
              </c:multiLvlStrCache>
            </c:multiLvl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0.004232</c:v>
                </c:pt>
                <c:pt idx="1">
                  <c:v>0.004295</c:v>
                </c:pt>
                <c:pt idx="2">
                  <c:v>0.003857</c:v>
                </c:pt>
                <c:pt idx="3">
                  <c:v>0.004076</c:v>
                </c:pt>
                <c:pt idx="4">
                  <c:v>0.004045</c:v>
                </c:pt>
                <c:pt idx="5">
                  <c:v>0.003889</c:v>
                </c:pt>
                <c:pt idx="6">
                  <c:v>0.003904</c:v>
                </c:pt>
                <c:pt idx="7">
                  <c:v>0.004232</c:v>
                </c:pt>
                <c:pt idx="8">
                  <c:v>0.004029</c:v>
                </c:pt>
                <c:pt idx="9">
                  <c:v>0.004248</c:v>
                </c:pt>
                <c:pt idx="10">
                  <c:v>0.004045</c:v>
                </c:pt>
                <c:pt idx="11">
                  <c:v>0.004232</c:v>
                </c:pt>
                <c:pt idx="12">
                  <c:v>0.004045</c:v>
                </c:pt>
                <c:pt idx="13">
                  <c:v>0.004217</c:v>
                </c:pt>
                <c:pt idx="14">
                  <c:v>0.004263</c:v>
                </c:pt>
                <c:pt idx="15">
                  <c:v>0.004263</c:v>
                </c:pt>
                <c:pt idx="16">
                  <c:v>0.004139</c:v>
                </c:pt>
                <c:pt idx="17">
                  <c:v>0.004295</c:v>
                </c:pt>
                <c:pt idx="18">
                  <c:v>0.00406</c:v>
                </c:pt>
                <c:pt idx="19">
                  <c:v>0.004123</c:v>
                </c:pt>
                <c:pt idx="20">
                  <c:v>0.004014</c:v>
                </c:pt>
                <c:pt idx="21">
                  <c:v>0.004154</c:v>
                </c:pt>
                <c:pt idx="22">
                  <c:v>0.004154</c:v>
                </c:pt>
                <c:pt idx="23">
                  <c:v>0.004154</c:v>
                </c:pt>
                <c:pt idx="24">
                  <c:v>0.004154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baseline (1/256)</c:v>
                </c:pt>
              </c:strCache>
            </c:strRef>
          </c:tx>
          <c:spPr>
            <a:solidFill>
              <a:srgbClr val="B91C1C"/>
            </a:solidFill>
            <a:ln w="25400" cap="flat">
              <a:solidFill>
                <a:srgbClr val="B91C1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91C1C"/>
              </a:solidFill>
              <a:ln w="9525" cap="flat">
                <a:solidFill>
                  <a:srgbClr val="B91C1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</c:lvl>
              </c:multiLvlStrCache>
            </c:multiLvl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0.003906</c:v>
                </c:pt>
                <c:pt idx="1">
                  <c:v>0.003906</c:v>
                </c:pt>
                <c:pt idx="2">
                  <c:v>0.003906</c:v>
                </c:pt>
                <c:pt idx="3">
                  <c:v>0.003906</c:v>
                </c:pt>
                <c:pt idx="4">
                  <c:v>0.003906</c:v>
                </c:pt>
                <c:pt idx="5">
                  <c:v>0.003906</c:v>
                </c:pt>
                <c:pt idx="6">
                  <c:v>0.003906</c:v>
                </c:pt>
                <c:pt idx="7">
                  <c:v>0.003906</c:v>
                </c:pt>
                <c:pt idx="8">
                  <c:v>0.003906</c:v>
                </c:pt>
                <c:pt idx="9">
                  <c:v>0.003906</c:v>
                </c:pt>
                <c:pt idx="10">
                  <c:v>0.003906</c:v>
                </c:pt>
                <c:pt idx="11">
                  <c:v>0.003906</c:v>
                </c:pt>
                <c:pt idx="12">
                  <c:v>0.003906</c:v>
                </c:pt>
                <c:pt idx="13">
                  <c:v>0.003906</c:v>
                </c:pt>
                <c:pt idx="14">
                  <c:v>0.003906</c:v>
                </c:pt>
                <c:pt idx="15">
                  <c:v>0.003906</c:v>
                </c:pt>
                <c:pt idx="16">
                  <c:v>0.003906</c:v>
                </c:pt>
                <c:pt idx="17">
                  <c:v>0.003906</c:v>
                </c:pt>
                <c:pt idx="18">
                  <c:v>0.003906</c:v>
                </c:pt>
                <c:pt idx="19">
                  <c:v>0.003906</c:v>
                </c:pt>
                <c:pt idx="20">
                  <c:v>0.003906</c:v>
                </c:pt>
                <c:pt idx="21">
                  <c:v>0.003906</c:v>
                </c:pt>
                <c:pt idx="22">
                  <c:v>0.003906</c:v>
                </c:pt>
                <c:pt idx="23">
                  <c:v>0.003906</c:v>
                </c:pt>
                <c:pt idx="24">
                  <c:v>0.003906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045"/>
          <c:min val="0.003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0C8"/>
          </a:solidFill>
          <a:ln w="12700">
            <a:solidFill>
              <a:srgbClr val="2E70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ML-KEM-512 Black-Box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Cryptanalysis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AI break post-quantum encryption using 12,000 NIST KAT vectors?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ML-KEM-512  |  NIST KAT Dataset  |  ResNet CNN  |  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ML-KEM-512 Black-Box AI Cryptanalysis  •  NIST KAT Vectors  •  ResNet CNN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68680"/>
            <a:ext cx="475488" cy="960120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06984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86968" y="96012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ML-KEM-512?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86968" y="13441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post-quantum standard we are testing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05740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057400"/>
            <a:ext cx="475488" cy="960120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" y="225856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86968" y="214884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the Dataset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86968" y="25328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12,000 NIST KAT vectors — how and why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24612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246120"/>
            <a:ext cx="475488" cy="960120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" y="344728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86968" y="33375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Model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86968" y="37216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CNN — what it is, where it came from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86868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868680"/>
            <a:ext cx="475488" cy="960120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64024" y="106984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321808" y="96012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Experiment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21808" y="13441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model was trained and tested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05740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057400"/>
            <a:ext cx="475488" cy="960120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64024" y="225856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321808" y="214884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21808" y="25328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 — numbers and meaning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24612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3246120"/>
            <a:ext cx="475488" cy="960120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64024" y="344728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321808" y="33375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21808" y="37216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ML-KEM-512 vulnerable?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ML-KEM-512?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ML-KEM-512 Black-Box AI Cryptanalysis  •  NIST KAT Vectors  •  ResNet CNN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ML-KEM = Module Lattice Key Encapsulation Mechanism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28016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by NIST as FIPS 203 in August 2024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CRYSTALS-Kyber — post-quantum cryptography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based on the Module Learning With Errors (MLWE) problem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Resistant to both classical and quantum computer attacks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0040" y="27889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ML-KEM-512 Key Sizes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108960"/>
          <a:ext cx="5029200" cy="13716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9202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B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B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has it?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B8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key (ek)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 bytes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Anyone — visible on network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key (dk)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1,632 bytes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Receiver only — kept secret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Ciphertext (ct)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768 bytes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Anyone — sent over network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secret (ss)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bytes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attacker wants to find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669280" y="8686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key exchange works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9280" y="1261872"/>
            <a:ext cx="3108960" cy="475488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715000" y="128930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A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715000" y="149961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ek + dk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223760" y="1737360"/>
            <a:ext cx="0" cy="164592"/>
          </a:xfrm>
          <a:prstGeom prst="line">
            <a:avLst/>
          </a:prstGeom>
          <a:noFill/>
          <a:ln w="12700">
            <a:solidFill>
              <a:srgbClr val="6B7A8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669280" y="1901952"/>
            <a:ext cx="3108960" cy="475488"/>
          </a:xfrm>
          <a:prstGeom prst="rect">
            <a:avLst/>
          </a:prstGeom>
          <a:solidFill>
            <a:srgbClr val="2E70C8"/>
          </a:solidFill>
          <a:ln w="12700">
            <a:solidFill>
              <a:srgbClr val="2E7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715000" y="192938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A → B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715000" y="213969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public key ek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223760" y="2377440"/>
            <a:ext cx="0" cy="164592"/>
          </a:xfrm>
          <a:prstGeom prst="line">
            <a:avLst/>
          </a:prstGeom>
          <a:noFill/>
          <a:ln w="12700">
            <a:solidFill>
              <a:srgbClr val="6B7A8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669280" y="2542032"/>
            <a:ext cx="3108960" cy="475488"/>
          </a:xfrm>
          <a:prstGeom prst="rect">
            <a:avLst/>
          </a:prstGeom>
          <a:solidFill>
            <a:srgbClr val="1B6B9A"/>
          </a:solidFill>
          <a:ln w="12700">
            <a:solidFill>
              <a:srgbClr val="1B6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715000" y="256946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B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715000" y="277977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ct + ss using ek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223760" y="3017520"/>
            <a:ext cx="0" cy="164592"/>
          </a:xfrm>
          <a:prstGeom prst="line">
            <a:avLst/>
          </a:prstGeom>
          <a:noFill/>
          <a:ln w="12700">
            <a:solidFill>
              <a:srgbClr val="6B7A8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669280" y="3182112"/>
            <a:ext cx="3108960" cy="475488"/>
          </a:xfrm>
          <a:prstGeom prst="rect">
            <a:avLst/>
          </a:prstGeom>
          <a:solidFill>
            <a:srgbClr val="2E70C8"/>
          </a:solidFill>
          <a:ln w="12700">
            <a:solidFill>
              <a:srgbClr val="2E7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5715000" y="320954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B → A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715000" y="341985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ciphertext ct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7223760" y="3657600"/>
            <a:ext cx="0" cy="164592"/>
          </a:xfrm>
          <a:prstGeom prst="line">
            <a:avLst/>
          </a:prstGeom>
          <a:noFill/>
          <a:ln w="12700">
            <a:solidFill>
              <a:srgbClr val="6B7A8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669280" y="3822192"/>
            <a:ext cx="3108960" cy="475488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5715000" y="384962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A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715000" y="405993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Decrypts ct with dk → gets ss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12,000 NIST KAT Vectors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ML-KEM-512 Black-Box AI Cryptanalysis  •  NIST KAT Vectors  •  ResNet CNN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1920240" cy="1417320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005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12,000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11480" y="1645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 Vectors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94767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ML-KEM-512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77440" y="868680"/>
            <a:ext cx="1920240" cy="1417320"/>
          </a:xfrm>
          <a:prstGeom prst="rect">
            <a:avLst/>
          </a:prstGeom>
          <a:solidFill>
            <a:srgbClr val="2E70C8"/>
          </a:solidFill>
          <a:ln w="12700">
            <a:solidFill>
              <a:srgbClr val="2E7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68880" y="1005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468880" y="1645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8880" y="194767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data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34840" y="868680"/>
            <a:ext cx="1920240" cy="1417320"/>
          </a:xfrm>
          <a:prstGeom prst="rect">
            <a:avLst/>
          </a:prstGeom>
          <a:solidFill>
            <a:srgbClr val="1B6B9A"/>
          </a:solidFill>
          <a:ln w="12700">
            <a:solidFill>
              <a:srgbClr val="1B6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26280" y="1005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526280" y="1645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26280" y="194767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held out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868680"/>
            <a:ext cx="2331720" cy="1417320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83680" y="10058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1,568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583680" y="16459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bytes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0" y="194767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ek(800)+ct(768)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0040" y="251460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generated the vectors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2880360"/>
            <a:ext cx="274320" cy="274320"/>
          </a:xfrm>
          <a:prstGeom prst="rect">
            <a:avLst/>
          </a:prstGeom>
          <a:solidFill>
            <a:srgbClr val="2E70C8"/>
          </a:solidFill>
          <a:ln w="12700">
            <a:solidFill>
              <a:srgbClr val="2E70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" y="289864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official source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450592" y="2898648"/>
            <a:ext cx="6355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 github.com/pq-crystals/kyber (NIST reference C implementation)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227832"/>
            <a:ext cx="274320" cy="274320"/>
          </a:xfrm>
          <a:prstGeom prst="rect">
            <a:avLst/>
          </a:prstGeom>
          <a:solidFill>
            <a:srgbClr val="2E70C8"/>
          </a:solidFill>
          <a:ln w="12700">
            <a:solidFill>
              <a:srgbClr val="2E70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227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8368" y="324612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KATNUM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450592" y="3246120"/>
            <a:ext cx="6355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PQCgenKAT_kem.c: #define KATNUM 12000 (default was 100)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3575304"/>
            <a:ext cx="274320" cy="274320"/>
          </a:xfrm>
          <a:prstGeom prst="rect">
            <a:avLst/>
          </a:prstGeom>
          <a:solidFill>
            <a:srgbClr val="2E70C8"/>
          </a:solidFill>
          <a:ln w="12700">
            <a:solidFill>
              <a:srgbClr val="2E70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575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8368" y="35935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Recompile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450592" y="3593592"/>
            <a:ext cx="6355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-DKYBER_K=2 ... -lcrypto -o PQCgenKAT_kem512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3922776"/>
            <a:ext cx="274320" cy="274320"/>
          </a:xfrm>
          <a:prstGeom prst="rect">
            <a:avLst/>
          </a:prstGeom>
          <a:solidFill>
            <a:srgbClr val="2E70C8"/>
          </a:solidFill>
          <a:ln w="12700">
            <a:solidFill>
              <a:srgbClr val="2E70C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922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58368" y="394106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450592" y="3941064"/>
            <a:ext cx="6355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./PQCgenKAT_kem512 → produced PQCkemKAT_1632.rsp (84,002 lines)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4270248"/>
            <a:ext cx="274320" cy="274320"/>
          </a:xfrm>
          <a:prstGeom prst="rect">
            <a:avLst/>
          </a:prstGeom>
          <a:solidFill>
            <a:srgbClr val="2E70C8"/>
          </a:solidFill>
          <a:ln w="12700">
            <a:solidFill>
              <a:srgbClr val="2E70C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4270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58368" y="428853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450592" y="4288536"/>
            <a:ext cx="6355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 -l PQCkemKAT_1632.rsp → confirmed 12,000 × 7 lines = 84,002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KAT Vector Contains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ML-KEM-512 Black-Box AI Cryptanalysis  •  NIST KAT Vectors  •  ResNet CNN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KAT vector = one complete recorded ML-KEM-512 key exchange session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34440"/>
          <a:ext cx="8503920" cy="2286000"/>
        </p:xfrm>
        <a:graphic>
          <a:graphicData uri="http://schemas.openxmlformats.org/drawingml/2006/table">
            <a:tbl>
              <a:tblPr/>
              <a:tblGrid>
                <a:gridCol w="914400"/>
                <a:gridCol w="1005840"/>
                <a:gridCol w="3291840"/>
                <a:gridCol w="329184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experiment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bytes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DRBG seed for deterministic generation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7A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used in training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4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 / ek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 bytes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Encapsulation key — the public key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4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INPUT 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 / dk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1,632 bytes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Decapsulation key — the private key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given to model  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4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768 bytes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Ciphertext produced by encapsulation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4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INPUT 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bytes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secret — what attacker wants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TARGET 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20040" y="3703320"/>
            <a:ext cx="8503920" cy="7772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Attack Setup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40416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to model: ek + ct (1,568 bytes — what any eavesdropper sees on the network)   |   Target: ss (32 bytes — the secret)   |   NEVER shown: dk (private key)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Model — ResNet CNN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ML-KEM-512 Black-Box AI Cryptanalysis  •  NIST KAT Vectors  •  ResNet CNN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8503920" cy="658368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Benamira et al., EUROCRYPT 2021 — "A Deeper Look at Machine Learning-Based Cryptanalysis"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1704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from Gohr's CNN (CRYPTO 2019) — the model that broke 7-round SPECK32/64 cipher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166420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ResNet CNN? — The Residual Connection Advantage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011680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011680"/>
            <a:ext cx="64008" cy="10058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2140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Vanishing Gradient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414016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deep network, the learning signal fades through many layers. Early layers stop learning. Deep networks fail on long inputs like our 1,568-byte sequence.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011680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2011680"/>
            <a:ext cx="64008" cy="1005840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12140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Skip Connection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2414016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adds a shortcut — the input is added directly to the output of each block. Gradient always flows. All layers keep learning. Deep networks work correctly.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80560" y="2514600"/>
            <a:ext cx="182880" cy="0"/>
          </a:xfrm>
          <a:prstGeom prst="line">
            <a:avLst/>
          </a:prstGeom>
          <a:noFill/>
          <a:ln w="25400">
            <a:solidFill>
              <a:srgbClr val="2E70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20040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Stem → ResBlock × 3 → Global Avg Pool → FC(256) → FC(32) → Sigmoid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584448"/>
            <a:ext cx="1051560" cy="80467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56616" y="3602736"/>
            <a:ext cx="9784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1,568 bytes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371600" y="3986784"/>
            <a:ext cx="274320" cy="0"/>
          </a:xfrm>
          <a:prstGeom prst="line">
            <a:avLst/>
          </a:prstGeom>
          <a:noFill/>
          <a:ln w="19050">
            <a:solidFill>
              <a:srgbClr val="2E70C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0" y="3584448"/>
            <a:ext cx="1051560" cy="804672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682496" y="3602736"/>
            <a:ext cx="9784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Conv1D(64)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k=7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697480" y="3986784"/>
            <a:ext cx="274320" cy="0"/>
          </a:xfrm>
          <a:prstGeom prst="line">
            <a:avLst/>
          </a:prstGeom>
          <a:noFill/>
          <a:ln w="19050">
            <a:solidFill>
              <a:srgbClr val="2E70C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71800" y="3584448"/>
            <a:ext cx="1051560" cy="804672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008376" y="3602736"/>
            <a:ext cx="9784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ResBlock 1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Conv+Skip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023360" y="3986784"/>
            <a:ext cx="274320" cy="0"/>
          </a:xfrm>
          <a:prstGeom prst="line">
            <a:avLst/>
          </a:prstGeom>
          <a:noFill/>
          <a:ln w="19050">
            <a:solidFill>
              <a:srgbClr val="2E70C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97680" y="3584448"/>
            <a:ext cx="1051560" cy="804672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334256" y="3602736"/>
            <a:ext cx="9784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ResBlock 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Conv+Skip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349240" y="3986784"/>
            <a:ext cx="274320" cy="0"/>
          </a:xfrm>
          <a:prstGeom prst="line">
            <a:avLst/>
          </a:prstGeom>
          <a:noFill/>
          <a:ln w="19050">
            <a:solidFill>
              <a:srgbClr val="2E70C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23560" y="3584448"/>
            <a:ext cx="1051560" cy="804672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660136" y="3602736"/>
            <a:ext cx="9784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ResBlock 3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Conv+Skip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675120" y="3986784"/>
            <a:ext cx="274320" cy="0"/>
          </a:xfrm>
          <a:prstGeom prst="line">
            <a:avLst/>
          </a:prstGeom>
          <a:noFill/>
          <a:ln w="19050">
            <a:solidFill>
              <a:srgbClr val="2E70C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49440" y="3584448"/>
            <a:ext cx="1051560" cy="804672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986016" y="3602736"/>
            <a:ext cx="9784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Pool+FC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units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001000" y="3986784"/>
            <a:ext cx="274320" cy="0"/>
          </a:xfrm>
          <a:prstGeom prst="line">
            <a:avLst/>
          </a:prstGeom>
          <a:noFill/>
          <a:ln w="19050">
            <a:solidFill>
              <a:srgbClr val="2E70C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75320" y="3584448"/>
            <a:ext cx="1051560" cy="80467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311896" y="3602736"/>
            <a:ext cx="9784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bytes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20040" y="4507992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100,384 trainable parameters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Model Was Trained and Tested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ML-KEM-512 Black-Box AI Cryptanalysis  •  NIST KAT Vectors  •  ResNet CNN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22960"/>
            <a:ext cx="2651760" cy="274320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841248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3192" y="1143000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Squared Error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(regression task)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822960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822960"/>
            <a:ext cx="2651760" cy="274320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73552" y="841248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73552" y="1143000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= 0.001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822960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822960"/>
            <a:ext cx="2651760" cy="274320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53912" y="841248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Scheduler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53912" y="1143000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Annealing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decay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1828800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1828800"/>
            <a:ext cx="2651760" cy="274320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" y="1847088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93192" y="2148840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samples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step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1828800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1828800"/>
            <a:ext cx="2651760" cy="274320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73552" y="1847088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73552" y="2148840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full passes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data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80760" y="1828800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0760" y="1828800"/>
            <a:ext cx="2651760" cy="274320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53912" y="1847088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53912" y="2148840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 on FC layer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(prevents overfitting)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0040" y="288036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Protocol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0040" y="3246120"/>
            <a:ext cx="1965960" cy="1234440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93192" y="3273552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93192" y="3657600"/>
            <a:ext cx="18196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KAT vectors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studies (ek, ct) → ss pairs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286000" y="3858768"/>
            <a:ext cx="228600" cy="0"/>
          </a:xfrm>
          <a:prstGeom prst="line">
            <a:avLst/>
          </a:prstGeom>
          <a:noFill/>
          <a:ln w="19050">
            <a:solidFill>
              <a:srgbClr val="6B7A8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14600" y="3246120"/>
            <a:ext cx="1965960" cy="1234440"/>
          </a:xfrm>
          <a:prstGeom prst="rect">
            <a:avLst/>
          </a:prstGeom>
          <a:solidFill>
            <a:srgbClr val="2E70C8"/>
          </a:solidFill>
          <a:ln w="12700">
            <a:solidFill>
              <a:srgbClr val="2E7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587752" y="3273552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587752" y="3657600"/>
            <a:ext cx="18196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epoch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byte accuracy on test set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480560" y="3858768"/>
            <a:ext cx="228600" cy="0"/>
          </a:xfrm>
          <a:prstGeom prst="line">
            <a:avLst/>
          </a:prstGeom>
          <a:noFill/>
          <a:ln w="19050">
            <a:solidFill>
              <a:srgbClr val="6B7A8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09160" y="3246120"/>
            <a:ext cx="1965960" cy="1234440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782312" y="3273552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Unseen KAT test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782312" y="3657600"/>
            <a:ext cx="18196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vector the model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saw during training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675120" y="3858768"/>
            <a:ext cx="228600" cy="0"/>
          </a:xfrm>
          <a:prstGeom prst="line">
            <a:avLst/>
          </a:prstGeom>
          <a:noFill/>
          <a:ln w="19050">
            <a:solidFill>
              <a:srgbClr val="6B7A8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903720" y="3246120"/>
            <a:ext cx="1965960" cy="12344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976872" y="3273552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input test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976872" y="3657600"/>
            <a:ext cx="18196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random bytes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not even real ML-KEM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20040" y="4572000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question: Can the model predict ss correctly on new inputs it never saw?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Results — 25 Epochs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ML-KEM-512 Black-Box AI Cryptanalysis  •  NIST KAT Vectors  •  ResNet CNN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20040" y="804672"/>
          <a:ext cx="56692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172200" y="80467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72200" y="1188720"/>
            <a:ext cx="109728" cy="32918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55080" y="120700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dropped only 0.0003 across 25 epochs — practically zero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172200" y="1682496"/>
            <a:ext cx="109728" cy="32918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55080" y="1700784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never improves — flat from epoch 1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72200" y="2176272"/>
            <a:ext cx="109728" cy="32918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55080" y="2194560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upward trend at all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172200" y="2670048"/>
            <a:ext cx="109728" cy="32918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55080" y="2688336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predicts 127 or 128 for every byte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172200" y="3163824"/>
            <a:ext cx="109728" cy="32918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3182112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byte mean (255÷2=127.5)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172200" y="3657600"/>
            <a:ext cx="109728" cy="329184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55080" y="367588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behaviour when no pattern exists: predict the average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20040" y="4370832"/>
            <a:ext cx="8503920" cy="219456"/>
          </a:xfrm>
          <a:prstGeom prst="rect">
            <a:avLst/>
          </a:prstGeom>
          <a:solidFill>
            <a:srgbClr val="F4F6FA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1480" y="438912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test accuracy: 0.004295  |  Random baseline: 0.003906  |  Improvement: 1.099x — within statistical noise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Unseen Input — Byte by Byte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ML-KEM-512 Black-Box AI Cryptanalysis  •  NIST KAT Vectors  •  ResNet CNN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80467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training, the model was given a real ML-KEM-512 session it had NEVER seen. Only ek and ct were given. True ss was hidden.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34440"/>
            <a:ext cx="4160520" cy="320040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3444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attacker sees (input)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160020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ek (public key):  A8B8B3BC110ACCFB1BFC7495...  (800 bytes)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 (ciphertext): 0410E42A4BFADFEFA4941D5B...  (768 bytes)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234440"/>
            <a:ext cx="4160520" cy="320040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23444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shared secret (hidden from model)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54880" y="160020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 7B B7 D8 E8 8B 6F 0A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7E 76 B8 48 0A 27 BA D2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 1A B8 1B B8 80 5A 35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B5 A0 71 7C 64 B7 FB 0C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788920"/>
            <a:ext cx="8503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788920"/>
            <a:ext cx="8503920" cy="3200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7889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predicted shared secret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1480" y="31546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7F 80 7F 80 80 7F 7E 7F  7F 80 7F 7F 80 7F 7F 7F  80 7D 7F 80 7F 80 80 7F  7F 7F 7F 7F 80 81 80 80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349300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 is 127 (7F) or 128 (80) — the byte mean. Model is predicting the average for every single position.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4206240"/>
            <a:ext cx="8503920" cy="402336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22452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1 / 32 bytes correct (3.1%)  —  coincidence at position 21 where true value happened to be 128  |  Random expected: 0.1 bytes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Random Input — The Definitive Proof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ML-KEM-512 Black-Box AI Cryptanalysis  •  NIST KAT Vectors  •  ResNet CNN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80467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gave the model completely random bytes — not a real ML-KEM session at all.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41605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34440"/>
            <a:ext cx="4160520" cy="347472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3444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ML-KEM ciphertext input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645920"/>
            <a:ext cx="39776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  A8B8B3BC 110ACCFB...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7F 80 7F 80 80 7F 7E 7F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7F 80 7F 7F 80 7F 7F 7F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 7D 7F 80 7F 80 80 7F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41605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234440"/>
            <a:ext cx="4160520" cy="34747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23444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random garbage input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1645920"/>
            <a:ext cx="39776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  56A0C9D2 FD2473CE...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7F 80 7F 80 80 7F 7E 7F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 80 7F 7F 80 7F 7F 7F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 7D 7F 80 7F 80 80 7F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51960" y="19202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187952" y="2542032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OUTPUT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20040" y="3474720"/>
            <a:ext cx="850392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3520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proves: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794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gives the same output for real encrypted data and random garbage. It is completely ignoring its input. It is NOT a decryption oracle — it learned nothing.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Summary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ML-KEM-512 Black-Box AI Cryptanalysis  •  NIST KAT Vectors  •  ResNet CNN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2560320" cy="14630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94183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0.618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11480" y="1581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Gohr CNN on SPECK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88366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7-round weak cipher — BROKE IT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54680" y="804672"/>
            <a:ext cx="2560320" cy="1463040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94183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0.004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246120" y="1581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CNN on ML-KEM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188366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standard — AT RANDOM BASELINE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89320" y="804672"/>
            <a:ext cx="2560320" cy="14630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80760" y="94183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0/32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080760" y="1581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correct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80760" y="188366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single unseen input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" y="242316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Literature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743200"/>
          <a:ext cx="8503920" cy="1755648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2011680"/>
                <a:gridCol w="1188720"/>
                <a:gridCol w="15544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/ Experiment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Gohr, CRYPTO 2019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1-D CNN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SPECK32/64 (7-round)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 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So, 2020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S-DES (toy cipher)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 toy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SALSA, NeurIPS 2022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LWE sparse binary n≤128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 recovered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params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PICANTE, CCS 2023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LWE sparse binary n≤350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standard ML-KEM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Ours,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 CNN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ML-KEM-512 full standard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VULNERABLE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Attack Failed — Three Reasons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ML-KEM-512 Black-Box AI Cryptanalysis  •  NIST KAT Vectors  •  ResNet CNN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8503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04672"/>
            <a:ext cx="658368" cy="1170432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6070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51560" y="877824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MLWE Hardness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225296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Recovering the private key from the public key requires solving the Module Learning With Errors problem. This is believed to require exponential time even on a quantum computer. No amount of training data shortcuts a mathematically hard problem.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103120"/>
            <a:ext cx="8503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103120"/>
            <a:ext cx="658368" cy="1170432"/>
          </a:xfrm>
          <a:prstGeom prst="rect">
            <a:avLst/>
          </a:prstGeom>
          <a:solidFill>
            <a:srgbClr val="2E70C8"/>
          </a:solidFill>
          <a:ln w="12700">
            <a:solidFill>
              <a:srgbClr val="2E70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3591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51560" y="21762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SHAKE-256 Hash Function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523744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secret ss = SHAKE-256(K). Even if the model somehow learned something about internal value K, the SHAKE-256 output is a pseudorandom function. Its outputs are indistinguishable from random bytes — there is nothing left to learn.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401568"/>
            <a:ext cx="8503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401568"/>
            <a:ext cx="658368" cy="1170432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6576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051560" y="347472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IND-CCA2 Security Proof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3822192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ML-KEM has a formal mathematical proof: any algorithm that can distinguish ML-KEM outputs from random bytes can also solve MLWE. Since MLWE is hard, no such algorithm exists — including neural networks.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0C8"/>
          </a:solidFill>
          <a:ln w="12700">
            <a:solidFill>
              <a:srgbClr val="2E70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1005840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241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ML-KEM-512 is NOT VULNERABLE to black-box AI attack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1499616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CNN trained on 10,000 NIST KAT vectors predicts 0/32 bytes correctly on unseen input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31136"/>
            <a:ext cx="201168" cy="201168"/>
          </a:xfrm>
          <a:prstGeom prst="rect">
            <a:avLst/>
          </a:prstGeom>
          <a:solidFill>
            <a:srgbClr val="2E70C8"/>
          </a:solidFill>
          <a:ln w="12700">
            <a:solidFill>
              <a:srgbClr val="2E70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17627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12,000 NIST KAT vectors generated from official pq-crystals reference implementation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201168" cy="201168"/>
          </a:xfrm>
          <a:prstGeom prst="rect">
            <a:avLst/>
          </a:prstGeom>
          <a:solidFill>
            <a:srgbClr val="2E70C8"/>
          </a:solidFill>
          <a:ln w="12700">
            <a:solidFill>
              <a:srgbClr val="2E70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59689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CNN (Benamira, EUROCRYPT 2021) trained for 25 epochs on 10,000 vectors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072384"/>
            <a:ext cx="201168" cy="201168"/>
          </a:xfrm>
          <a:prstGeom prst="rect">
            <a:avLst/>
          </a:prstGeom>
          <a:solidFill>
            <a:srgbClr val="2E70C8"/>
          </a:solidFill>
          <a:ln w="12700">
            <a:solidFill>
              <a:srgbClr val="2E70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01752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accuracy: 0.004295 vs random baseline 0.003906 — no meaningful improvement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493008"/>
            <a:ext cx="201168" cy="201168"/>
          </a:xfrm>
          <a:prstGeom prst="rect">
            <a:avLst/>
          </a:prstGeom>
          <a:solidFill>
            <a:srgbClr val="2E70C8"/>
          </a:solidFill>
          <a:ln w="12700">
            <a:solidFill>
              <a:srgbClr val="2E70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43814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predicts byte mean (127/128) for every position — confirms zero pattern learned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13632"/>
            <a:ext cx="201168" cy="201168"/>
          </a:xfrm>
          <a:prstGeom prst="rect">
            <a:avLst/>
          </a:prstGeom>
          <a:solidFill>
            <a:srgbClr val="2E70C8"/>
          </a:solidFill>
          <a:ln w="12700">
            <a:solidFill>
              <a:srgbClr val="2E70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85876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output for real ciphertext and random garbage — model ignores input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334256"/>
            <a:ext cx="201168" cy="201168"/>
          </a:xfrm>
          <a:prstGeom prst="rect">
            <a:avLst/>
          </a:prstGeom>
          <a:solidFill>
            <a:srgbClr val="2E70C8"/>
          </a:solidFill>
          <a:ln w="12700">
            <a:solidFill>
              <a:srgbClr val="2E70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27939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Gohr's CNN broke SPECK32/64 at 0.618 — ML-KEM achieves 0.004 — security gap is clear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ML-KEM-512 Black-Box AI Cryptanalysis</dc:title>
  <dc:subject>PptxGenJS Presentation</dc:subject>
  <dc:creator>PptxGenJS</dc:creator>
  <cp:lastModifiedBy>PptxGenJS</cp:lastModifiedBy>
  <cp:revision>1</cp:revision>
  <dcterms:created xsi:type="dcterms:W3CDTF">2026-04-20T05:15:13Z</dcterms:created>
  <dcterms:modified xsi:type="dcterms:W3CDTF">2026-04-20T05:15:13Z</dcterms:modified>
</cp:coreProperties>
</file>